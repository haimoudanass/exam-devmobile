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pbcwrd62phdo/mnt/agents/output/smartcity/images/8_Neon_Cityscape_Night_Futuristic_Urban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E17">
                  <a:alpha val="13000"/>
                </a:srgbClr>
              </a:gs>
              <a:gs pos="35000">
                <a:srgbClr val="0A0E17">
                  <a:alpha val="50000"/>
                </a:srgbClr>
              </a:gs>
              <a:gs pos="70000">
                <a:srgbClr val="0A0E17">
                  <a:alpha val="82000"/>
                </a:srgbClr>
              </a:gs>
              <a:gs pos="100000">
                <a:srgbClr val="0A0E17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23000" y="3238500"/>
            <a:ext cx="3810000" cy="0"/>
          </a:xfrm>
          <a:prstGeom prst="straightConnector1">
            <a:avLst/>
          </a:prstGeom>
          <a:noFill/>
          <a:ln w="254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70000" y="3492500"/>
            <a:ext cx="137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540000" y="4572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L'IA au Service de la Gestion Urbaine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23000" y="5270500"/>
            <a:ext cx="3810000" cy="0"/>
          </a:xfrm>
          <a:prstGeom prst="straightConnector1">
            <a:avLst/>
          </a:prstGeom>
          <a:noFill/>
          <a:ln w="254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2540000" y="55245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Plateforme Mobile Intelligente de Signalement d'Incidents Urbains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77200" y="8128000"/>
            <a:ext cx="101600" cy="1016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12" name="Text 9"/>
          <p:cNvSpPr/>
          <p:nvPr/>
        </p:nvSpPr>
        <p:spPr>
          <a:xfrm>
            <a:off x="5588000" y="838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Présentation Projet |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Contexte et la Problématique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pic>
        <p:nvPicPr>
          <p:cNvPr id="6" name="Image 0" descr="https://kimi-img.moonshot.cn/pub/slides/okc/epbcwrd62phdo/mnt/agents/output/smartcity/images/7_IoT_for_Smart_Cities_Transforming.png">    </p:cNvPr>
          <p:cNvPicPr>
            <a:picLocks noChangeAspect="1"/>
          </p:cNvPicPr>
          <p:nvPr/>
        </p:nvPicPr>
        <p:blipFill>
          <a:blip r:embed="rId1"/>
          <a:srcRect l="27154" r="27154" t="0" b="0"/>
          <a:stretch/>
        </p:blipFill>
        <p:spPr>
          <a:xfrm>
            <a:off x="762000" y="1841500"/>
            <a:ext cx="5334000" cy="622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77000" y="1841500"/>
            <a:ext cx="90170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5925" y="209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0" y="0"/>
                </a:moveTo>
                <a:cubicBezTo>
                  <a:pt x="254228" y="0"/>
                  <a:pt x="228600" y="25628"/>
                  <a:pt x="228600" y="57150"/>
                </a:cubicBezTo>
                <a:lnTo>
                  <a:pt x="228600" y="85725"/>
                </a:lnTo>
                <a:lnTo>
                  <a:pt x="185738" y="85725"/>
                </a:lnTo>
                <a:lnTo>
                  <a:pt x="185738" y="21431"/>
                </a:lnTo>
                <a:cubicBezTo>
                  <a:pt x="185738" y="9555"/>
                  <a:pt x="176183" y="0"/>
                  <a:pt x="164306" y="0"/>
                </a:cubicBezTo>
                <a:cubicBezTo>
                  <a:pt x="152430" y="0"/>
                  <a:pt x="142875" y="9555"/>
                  <a:pt x="142875" y="21431"/>
                </a:cubicBezTo>
                <a:lnTo>
                  <a:pt x="142875" y="85725"/>
                </a:lnTo>
                <a:lnTo>
                  <a:pt x="85725" y="85725"/>
                </a:lnTo>
                <a:lnTo>
                  <a:pt x="85725" y="21431"/>
                </a:lnTo>
                <a:cubicBezTo>
                  <a:pt x="85725" y="9555"/>
                  <a:pt x="76170" y="0"/>
                  <a:pt x="64294" y="0"/>
                </a:cubicBezTo>
                <a:cubicBezTo>
                  <a:pt x="52417" y="0"/>
                  <a:pt x="42863" y="9555"/>
                  <a:pt x="42863" y="21431"/>
                </a:cubicBezTo>
                <a:lnTo>
                  <a:pt x="42863" y="87511"/>
                </a:lnTo>
                <a:cubicBezTo>
                  <a:pt x="18217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228600"/>
                </a:lnTo>
                <a:cubicBezTo>
                  <a:pt x="514350" y="197078"/>
                  <a:pt x="488722" y="171450"/>
                  <a:pt x="457200" y="171450"/>
                </a:cubicBezTo>
                <a:lnTo>
                  <a:pt x="400050" y="171450"/>
                </a:lnTo>
                <a:lnTo>
                  <a:pt x="400050" y="57150"/>
                </a:lnTo>
                <a:cubicBezTo>
                  <a:pt x="400050" y="25628"/>
                  <a:pt x="374422" y="0"/>
                  <a:pt x="342900" y="0"/>
                </a:cubicBezTo>
                <a:lnTo>
                  <a:pt x="285750" y="0"/>
                </a:lnTo>
                <a:close/>
                <a:moveTo>
                  <a:pt x="342900" y="100013"/>
                </a:moveTo>
                <a:lnTo>
                  <a:pt x="342900" y="128588"/>
                </a:lnTo>
                <a:cubicBezTo>
                  <a:pt x="342900" y="136446"/>
                  <a:pt x="336471" y="142875"/>
                  <a:pt x="328613" y="142875"/>
                </a:cubicBezTo>
                <a:lnTo>
                  <a:pt x="300038" y="142875"/>
                </a:lnTo>
                <a:cubicBezTo>
                  <a:pt x="292179" y="142875"/>
                  <a:pt x="285750" y="136446"/>
                  <a:pt x="285750" y="128588"/>
                </a:cubicBezTo>
                <a:lnTo>
                  <a:pt x="285750" y="100013"/>
                </a:lnTo>
                <a:cubicBezTo>
                  <a:pt x="285750" y="92154"/>
                  <a:pt x="292179" y="85725"/>
                  <a:pt x="300038" y="85725"/>
                </a:cubicBezTo>
                <a:lnTo>
                  <a:pt x="328613" y="85725"/>
                </a:lnTo>
                <a:cubicBezTo>
                  <a:pt x="336471" y="85725"/>
                  <a:pt x="342900" y="92154"/>
                  <a:pt x="342900" y="100013"/>
                </a:cubicBezTo>
                <a:close/>
                <a:moveTo>
                  <a:pt x="328613" y="171450"/>
                </a:moveTo>
                <a:cubicBezTo>
                  <a:pt x="336471" y="171450"/>
                  <a:pt x="342900" y="177879"/>
                  <a:pt x="342900" y="185738"/>
                </a:cubicBezTo>
                <a:lnTo>
                  <a:pt x="342900" y="214313"/>
                </a:lnTo>
                <a:cubicBezTo>
                  <a:pt x="342900" y="222171"/>
                  <a:pt x="336471" y="228600"/>
                  <a:pt x="328613" y="228600"/>
                </a:cubicBezTo>
                <a:lnTo>
                  <a:pt x="300038" y="228600"/>
                </a:lnTo>
                <a:cubicBezTo>
                  <a:pt x="292179" y="228600"/>
                  <a:pt x="285750" y="222171"/>
                  <a:pt x="285750" y="214313"/>
                </a:cubicBezTo>
                <a:lnTo>
                  <a:pt x="285750" y="185738"/>
                </a:lnTo>
                <a:cubicBezTo>
                  <a:pt x="285750" y="177879"/>
                  <a:pt x="292179" y="171450"/>
                  <a:pt x="300038" y="171450"/>
                </a:cubicBezTo>
                <a:lnTo>
                  <a:pt x="328613" y="171450"/>
                </a:lnTo>
                <a:close/>
                <a:moveTo>
                  <a:pt x="342900" y="271463"/>
                </a:moveTo>
                <a:lnTo>
                  <a:pt x="342900" y="300038"/>
                </a:lnTo>
                <a:cubicBezTo>
                  <a:pt x="342900" y="307896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07896"/>
                  <a:pt x="285750" y="300038"/>
                </a:cubicBezTo>
                <a:lnTo>
                  <a:pt x="285750" y="271463"/>
                </a:lnTo>
                <a:cubicBezTo>
                  <a:pt x="285750" y="263604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63604"/>
                  <a:pt x="342900" y="271463"/>
                </a:cubicBezTo>
                <a:close/>
                <a:moveTo>
                  <a:pt x="442913" y="257175"/>
                </a:moveTo>
                <a:cubicBezTo>
                  <a:pt x="450771" y="257175"/>
                  <a:pt x="457200" y="263604"/>
                  <a:pt x="457200" y="271463"/>
                </a:cubicBezTo>
                <a:lnTo>
                  <a:pt x="457200" y="300038"/>
                </a:lnTo>
                <a:cubicBezTo>
                  <a:pt x="457200" y="307896"/>
                  <a:pt x="450771" y="314325"/>
                  <a:pt x="442913" y="314325"/>
                </a:cubicBezTo>
                <a:lnTo>
                  <a:pt x="414338" y="314325"/>
                </a:lnTo>
                <a:cubicBezTo>
                  <a:pt x="406479" y="314325"/>
                  <a:pt x="400050" y="307896"/>
                  <a:pt x="400050" y="300038"/>
                </a:cubicBezTo>
                <a:lnTo>
                  <a:pt x="400050" y="271463"/>
                </a:lnTo>
                <a:cubicBezTo>
                  <a:pt x="400050" y="263604"/>
                  <a:pt x="406479" y="257175"/>
                  <a:pt x="414338" y="257175"/>
                </a:cubicBezTo>
                <a:lnTo>
                  <a:pt x="442913" y="257175"/>
                </a:lnTo>
                <a:close/>
                <a:moveTo>
                  <a:pt x="228600" y="271463"/>
                </a:moveTo>
                <a:lnTo>
                  <a:pt x="228600" y="300038"/>
                </a:lnTo>
                <a:cubicBezTo>
                  <a:pt x="228600" y="307896"/>
                  <a:pt x="222171" y="314325"/>
                  <a:pt x="214313" y="314325"/>
                </a:cubicBezTo>
                <a:lnTo>
                  <a:pt x="185738" y="314325"/>
                </a:lnTo>
                <a:cubicBezTo>
                  <a:pt x="177879" y="314325"/>
                  <a:pt x="171450" y="307896"/>
                  <a:pt x="171450" y="300038"/>
                </a:cubicBezTo>
                <a:lnTo>
                  <a:pt x="171450" y="271463"/>
                </a:lnTo>
                <a:cubicBezTo>
                  <a:pt x="171450" y="263604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63604"/>
                  <a:pt x="228600" y="271463"/>
                </a:cubicBezTo>
                <a:close/>
                <a:moveTo>
                  <a:pt x="214313" y="171450"/>
                </a:moveTo>
                <a:cubicBezTo>
                  <a:pt x="222171" y="171450"/>
                  <a:pt x="228600" y="177879"/>
                  <a:pt x="228600" y="185738"/>
                </a:cubicBezTo>
                <a:lnTo>
                  <a:pt x="228600" y="214313"/>
                </a:lnTo>
                <a:cubicBezTo>
                  <a:pt x="228600" y="222171"/>
                  <a:pt x="222171" y="228600"/>
                  <a:pt x="214313" y="228600"/>
                </a:cubicBezTo>
                <a:lnTo>
                  <a:pt x="185738" y="228600"/>
                </a:lnTo>
                <a:cubicBezTo>
                  <a:pt x="177879" y="228600"/>
                  <a:pt x="171450" y="222171"/>
                  <a:pt x="171450" y="214313"/>
                </a:cubicBezTo>
                <a:lnTo>
                  <a:pt x="171450" y="185738"/>
                </a:lnTo>
                <a:cubicBezTo>
                  <a:pt x="171450" y="177879"/>
                  <a:pt x="177879" y="171450"/>
                  <a:pt x="185738" y="171450"/>
                </a:cubicBezTo>
                <a:lnTo>
                  <a:pt x="214313" y="171450"/>
                </a:lnTo>
                <a:close/>
                <a:moveTo>
                  <a:pt x="114300" y="271463"/>
                </a:moveTo>
                <a:lnTo>
                  <a:pt x="114300" y="300038"/>
                </a:lnTo>
                <a:cubicBezTo>
                  <a:pt x="114300" y="307896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07896"/>
                  <a:pt x="57150" y="300038"/>
                </a:cubicBezTo>
                <a:lnTo>
                  <a:pt x="57150" y="271463"/>
                </a:lnTo>
                <a:cubicBezTo>
                  <a:pt x="57150" y="263604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63604"/>
                  <a:pt x="114300" y="271463"/>
                </a:cubicBezTo>
                <a:close/>
                <a:moveTo>
                  <a:pt x="100013" y="171450"/>
                </a:moveTo>
                <a:cubicBezTo>
                  <a:pt x="107871" y="171450"/>
                  <a:pt x="114300" y="177879"/>
                  <a:pt x="114300" y="185738"/>
                </a:cubicBezTo>
                <a:lnTo>
                  <a:pt x="114300" y="214313"/>
                </a:lnTo>
                <a:cubicBezTo>
                  <a:pt x="114300" y="222171"/>
                  <a:pt x="107871" y="228600"/>
                  <a:pt x="100013" y="228600"/>
                </a:cubicBezTo>
                <a:lnTo>
                  <a:pt x="71438" y="228600"/>
                </a:lnTo>
                <a:cubicBezTo>
                  <a:pt x="63579" y="228600"/>
                  <a:pt x="57150" y="222171"/>
                  <a:pt x="57150" y="214313"/>
                </a:cubicBezTo>
                <a:lnTo>
                  <a:pt x="57150" y="185738"/>
                </a:lnTo>
                <a:cubicBezTo>
                  <a:pt x="57150" y="177879"/>
                  <a:pt x="63579" y="171450"/>
                  <a:pt x="71438" y="171450"/>
                </a:cubicBezTo>
                <a:lnTo>
                  <a:pt x="100013" y="171450"/>
                </a:ln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9" name="Text 6"/>
          <p:cNvSpPr/>
          <p:nvPr/>
        </p:nvSpPr>
        <p:spPr>
          <a:xfrm>
            <a:off x="7429500" y="2070100"/>
            <a:ext cx="774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Croissance Urbaine Rapide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29500" y="2514600"/>
            <a:ext cx="774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infrastructures des grandes villes subissent une pression constante due à l'urbanisation accélérée.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77000" y="3937000"/>
            <a:ext cx="90170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945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429500" y="4165600"/>
            <a:ext cx="774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Méthodes Traditionnelles Obsolètes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29500" y="4610100"/>
            <a:ext cx="774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Signalements d'incidents lents et imprécis : fuites d'eau, routes abîmées, éclairage défectueux.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77000" y="6032500"/>
            <a:ext cx="9017000" cy="2032000"/>
          </a:xfrm>
          <a:prstGeom prst="roundRect">
            <a:avLst>
              <a:gd name="adj" fmla="val 8000"/>
            </a:avLst>
          </a:prstGeom>
          <a:solidFill>
            <a:srgbClr val="FF6B35">
              <a:alpha val="12549"/>
            </a:srgbClr>
          </a:solidFill>
          <a:ln w="12700">
            <a:solidFill>
              <a:srgbClr val="FF6B35">
                <a:alpha val="37647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945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7429500" y="6261100"/>
            <a:ext cx="774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Défi Majeur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29500" y="6705600"/>
            <a:ext cx="774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Comment automatiser le tri des urgences et réduire le temps d'intervention grâce aux nouvelles technologies ?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Solution "SmartCity"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9200" y="2349500"/>
            <a:ext cx="863600" cy="863600"/>
          </a:xfrm>
          <a:prstGeom prst="ellipse">
            <a:avLst/>
          </a:prstGeom>
          <a:solidFill>
            <a:srgbClr val="00E5C0">
              <a:alpha val="8235"/>
            </a:srgbClr>
          </a:solidFill>
          <a:ln w="12700">
            <a:solidFill>
              <a:srgbClr val="00E5C0">
                <a:alpha val="25098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2400" y="2552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4925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Écosystémique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0" y="4000500"/>
            <a:ext cx="1524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9500" y="4191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Une solution complète alliant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Intelligence Artificielle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une gestion urbaine unifiée.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42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69200" y="2349500"/>
            <a:ext cx="863600" cy="863600"/>
          </a:xfrm>
          <a:prstGeom prst="ellipse">
            <a:avLst/>
          </a:prstGeom>
          <a:solidFill>
            <a:srgbClr val="00E5C0">
              <a:alpha val="8235"/>
            </a:srgbClr>
          </a:solidFill>
          <a:ln w="12700">
            <a:solidFill>
              <a:srgbClr val="00E5C0">
                <a:alpha val="25098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9550" y="25527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114300" y="392906"/>
                </a:moveTo>
                <a:cubicBezTo>
                  <a:pt x="114300" y="404783"/>
                  <a:pt x="123855" y="414338"/>
                  <a:pt x="135731" y="414338"/>
                </a:cubicBezTo>
                <a:lnTo>
                  <a:pt x="207169" y="414338"/>
                </a:lnTo>
                <a:cubicBezTo>
                  <a:pt x="219045" y="414338"/>
                  <a:pt x="228600" y="404783"/>
                  <a:pt x="228600" y="392906"/>
                </a:cubicBezTo>
                <a:cubicBezTo>
                  <a:pt x="228600" y="381030"/>
                  <a:pt x="219045" y="371475"/>
                  <a:pt x="207169" y="371475"/>
                </a:cubicBezTo>
                <a:lnTo>
                  <a:pt x="135731" y="371475"/>
                </a:lnTo>
                <a:cubicBezTo>
                  <a:pt x="123855" y="371475"/>
                  <a:pt x="114300" y="381030"/>
                  <a:pt x="114300" y="392906"/>
                </a:cubicBezTo>
                <a:close/>
                <a:moveTo>
                  <a:pt x="271463" y="57150"/>
                </a:moveTo>
                <a:lnTo>
                  <a:pt x="71438" y="57150"/>
                </a:ln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159500" y="34925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Citoyenne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66000" y="4000500"/>
            <a:ext cx="1524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159500" y="4191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Photographier, géolocaliser et signaler un incident en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clics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Une expérience simplifiée pour tous.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22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49200" y="2349500"/>
            <a:ext cx="863600" cy="863600"/>
          </a:xfrm>
          <a:prstGeom prst="ellipse">
            <a:avLst/>
          </a:prstGeom>
          <a:solidFill>
            <a:srgbClr val="00E5C0">
              <a:alpha val="8235"/>
            </a:srgbClr>
          </a:solidFill>
          <a:ln w="12700">
            <a:solidFill>
              <a:srgbClr val="00E5C0">
                <a:alpha val="25098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795250" y="25527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21" name="Text 19"/>
          <p:cNvSpPr/>
          <p:nvPr/>
        </p:nvSpPr>
        <p:spPr>
          <a:xfrm>
            <a:off x="11239500" y="34925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 Automatisé par IA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446000" y="4000500"/>
            <a:ext cx="1524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1239500" y="4191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L'IA analyse l'image et qualifie le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degré d'urgence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automatiquement, sans intervention humaine.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L'Innovation Majeure - Computer Vision (IA)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pic>
        <p:nvPicPr>
          <p:cNvPr id="6" name="Image 0" descr="https://kimi-img.moonshot.cn/pub/slides/okc/epbcwrd62phdo/mnt/agents/output/smartcity/images/6_Read_about_Computer_Vision_And_Facial.png">    </p:cNvPr>
          <p:cNvPicPr>
            <a:picLocks noChangeAspect="1"/>
          </p:cNvPicPr>
          <p:nvPr/>
        </p:nvPicPr>
        <p:blipFill>
          <a:blip r:embed="rId1"/>
          <a:srcRect l="23162" r="23162" t="0" b="0"/>
          <a:stretch/>
        </p:blipFill>
        <p:spPr>
          <a:xfrm>
            <a:off x="762000" y="1841500"/>
            <a:ext cx="6096000" cy="622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366000" y="2057400"/>
            <a:ext cx="127000" cy="1270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8" name="Text 5"/>
          <p:cNvSpPr/>
          <p:nvPr/>
        </p:nvSpPr>
        <p:spPr>
          <a:xfrm>
            <a:off x="7683500" y="19431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 1.5 Flash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83500" y="238760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modèle d'IA générative ultra-rapide intégré pour l'analyse d'images en temps réel.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66000" y="3581400"/>
            <a:ext cx="127000" cy="1270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11" name="Text 8"/>
          <p:cNvSpPr/>
          <p:nvPr/>
        </p:nvSpPr>
        <p:spPr>
          <a:xfrm>
            <a:off x="7683500" y="34671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d'Image en Temps Réel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83500" y="391160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L'IA scanne la photo et classifie l'incident : déchets, infrastructure, eau, et plus encore.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239000" y="5207000"/>
            <a:ext cx="8128000" cy="2667000"/>
          </a:xfrm>
          <a:prstGeom prst="roundRect">
            <a:avLst>
              <a:gd name="adj" fmla="val 8000"/>
            </a:avLst>
          </a:prstGeom>
          <a:solidFill>
            <a:srgbClr val="FF6B35">
              <a:alpha val="12549"/>
            </a:srgbClr>
          </a:solidFill>
          <a:ln w="12700">
            <a:solidFill>
              <a:srgbClr val="FF6B35">
                <a:alpha val="37647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565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8191500" y="546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DE DANGER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56500" y="6032500"/>
            <a:ext cx="749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- Badge Rouge "Sécurité"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556500" y="6502400"/>
            <a:ext cx="749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 l'IA détecte un risque imminent (câble électrique dénudé), le système attribue le badge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6B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rouge prioritaire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une intervention immédiate.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Assistant Virtuel et Chatbot Vocal Intégré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8415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160238" y="168573"/>
                </a:moveTo>
                <a:cubicBezTo>
                  <a:pt x="148134" y="163413"/>
                  <a:pt x="134144" y="168970"/>
                  <a:pt x="128984" y="181074"/>
                </a:cubicBezTo>
                <a:cubicBezTo>
                  <a:pt x="123825" y="193179"/>
                  <a:pt x="129381" y="207169"/>
                  <a:pt x="141486" y="212328"/>
                </a:cubicBezTo>
                <a:lnTo>
                  <a:pt x="153293" y="217388"/>
                </a:lnTo>
                <a:cubicBezTo>
                  <a:pt x="170458" y="224730"/>
                  <a:pt x="188218" y="230188"/>
                  <a:pt x="206474" y="233561"/>
                </a:cubicBezTo>
                <a:lnTo>
                  <a:pt x="206474" y="283270"/>
                </a:lnTo>
                <a:cubicBezTo>
                  <a:pt x="206474" y="287536"/>
                  <a:pt x="205780" y="291802"/>
                  <a:pt x="204391" y="295771"/>
                </a:cubicBezTo>
                <a:lnTo>
                  <a:pt x="175915" y="381198"/>
                </a:lnTo>
                <a:cubicBezTo>
                  <a:pt x="171748" y="393700"/>
                  <a:pt x="178495" y="407194"/>
                  <a:pt x="190996" y="411361"/>
                </a:cubicBezTo>
                <a:cubicBezTo>
                  <a:pt x="203498" y="415528"/>
                  <a:pt x="216991" y="408781"/>
                  <a:pt x="221159" y="396280"/>
                </a:cubicBezTo>
                <a:lnTo>
                  <a:pt x="245368" y="323652"/>
                </a:lnTo>
                <a:cubicBezTo>
                  <a:pt x="246658" y="319881"/>
                  <a:pt x="250130" y="317302"/>
                  <a:pt x="254099" y="317302"/>
                </a:cubicBezTo>
                <a:cubicBezTo>
                  <a:pt x="258068" y="317302"/>
                  <a:pt x="261640" y="319881"/>
                  <a:pt x="262830" y="323652"/>
                </a:cubicBezTo>
                <a:lnTo>
                  <a:pt x="287040" y="396280"/>
                </a:lnTo>
                <a:cubicBezTo>
                  <a:pt x="291207" y="408781"/>
                  <a:pt x="304701" y="415528"/>
                  <a:pt x="317202" y="411361"/>
                </a:cubicBezTo>
                <a:cubicBezTo>
                  <a:pt x="329704" y="407194"/>
                  <a:pt x="336352" y="393898"/>
                  <a:pt x="332184" y="381397"/>
                </a:cubicBezTo>
                <a:lnTo>
                  <a:pt x="303709" y="295970"/>
                </a:lnTo>
                <a:cubicBezTo>
                  <a:pt x="302320" y="291902"/>
                  <a:pt x="301625" y="287734"/>
                  <a:pt x="301625" y="283468"/>
                </a:cubicBezTo>
                <a:lnTo>
                  <a:pt x="301625" y="233759"/>
                </a:lnTo>
                <a:cubicBezTo>
                  <a:pt x="319881" y="230287"/>
                  <a:pt x="337641" y="224929"/>
                  <a:pt x="354806" y="217587"/>
                </a:cubicBezTo>
                <a:lnTo>
                  <a:pt x="366613" y="212527"/>
                </a:lnTo>
                <a:cubicBezTo>
                  <a:pt x="378718" y="207367"/>
                  <a:pt x="384274" y="193377"/>
                  <a:pt x="379115" y="181273"/>
                </a:cubicBezTo>
                <a:cubicBezTo>
                  <a:pt x="373955" y="169168"/>
                  <a:pt x="359966" y="163612"/>
                  <a:pt x="347861" y="168771"/>
                </a:cubicBezTo>
                <a:lnTo>
                  <a:pt x="336054" y="173633"/>
                </a:lnTo>
                <a:cubicBezTo>
                  <a:pt x="310158" y="184745"/>
                  <a:pt x="282277" y="190500"/>
                  <a:pt x="254000" y="190500"/>
                </a:cubicBezTo>
                <a:cubicBezTo>
                  <a:pt x="225723" y="190500"/>
                  <a:pt x="197941" y="184745"/>
                  <a:pt x="171946" y="173633"/>
                </a:cubicBezTo>
                <a:lnTo>
                  <a:pt x="160139" y="168573"/>
                </a:lnTo>
                <a:close/>
                <a:moveTo>
                  <a:pt x="254000" y="158750"/>
                </a:moveTo>
                <a:cubicBezTo>
                  <a:pt x="275904" y="158750"/>
                  <a:pt x="293688" y="140967"/>
                  <a:pt x="293688" y="119063"/>
                </a:cubicBezTo>
                <a:cubicBezTo>
                  <a:pt x="293688" y="97158"/>
                  <a:pt x="275904" y="79375"/>
                  <a:pt x="254000" y="79375"/>
                </a:cubicBezTo>
                <a:cubicBezTo>
                  <a:pt x="232096" y="79375"/>
                  <a:pt x="214313" y="97158"/>
                  <a:pt x="214313" y="119063"/>
                </a:cubicBezTo>
                <a:cubicBezTo>
                  <a:pt x="214313" y="140967"/>
                  <a:pt x="232096" y="158750"/>
                  <a:pt x="254000" y="15875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8" name="Text 6"/>
          <p:cNvSpPr/>
          <p:nvPr/>
        </p:nvSpPr>
        <p:spPr>
          <a:xfrm>
            <a:off x="1841500" y="2159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Accessibilité Maximale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2794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assistant conversationnel intégré directement dans l'application pour guider chaque utilisateur, quel que soit son niveau de familiarité avec la technologie.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18500" y="18415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63000" y="2159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90500" y="0"/>
                </a:moveTo>
                <a:cubicBezTo>
                  <a:pt x="137914" y="0"/>
                  <a:pt x="95250" y="42664"/>
                  <a:pt x="95250" y="95250"/>
                </a:cubicBezTo>
                <a:lnTo>
                  <a:pt x="95250" y="222250"/>
                </a:lnTo>
                <a:cubicBezTo>
                  <a:pt x="95250" y="274836"/>
                  <a:pt x="137914" y="317500"/>
                  <a:pt x="190500" y="317500"/>
                </a:cubicBezTo>
                <a:cubicBezTo>
                  <a:pt x="243086" y="317500"/>
                  <a:pt x="285750" y="274836"/>
                  <a:pt x="285750" y="222250"/>
                </a:cubicBezTo>
                <a:lnTo>
                  <a:pt x="285750" y="95250"/>
                </a:lnTo>
                <a:cubicBezTo>
                  <a:pt x="285750" y="42664"/>
                  <a:pt x="243086" y="0"/>
                  <a:pt x="190500" y="0"/>
                </a:cubicBezTo>
                <a:close/>
                <a:moveTo>
                  <a:pt x="47625" y="182563"/>
                </a:moveTo>
                <a:cubicBezTo>
                  <a:pt x="47625" y="169366"/>
                  <a:pt x="37009" y="158750"/>
                  <a:pt x="23812" y="158750"/>
                </a:cubicBezTo>
                <a:cubicBezTo>
                  <a:pt x="10616" y="158750"/>
                  <a:pt x="0" y="169366"/>
                  <a:pt x="0" y="182563"/>
                </a:cubicBezTo>
                <a:lnTo>
                  <a:pt x="0" y="222250"/>
                </a:lnTo>
                <a:cubicBezTo>
                  <a:pt x="0" y="319385"/>
                  <a:pt x="72727" y="399554"/>
                  <a:pt x="166688" y="411262"/>
                </a:cubicBezTo>
                <a:lnTo>
                  <a:pt x="166688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261937" y="508000"/>
                </a:lnTo>
                <a:cubicBezTo>
                  <a:pt x="275134" y="508000"/>
                  <a:pt x="285750" y="497384"/>
                  <a:pt x="285750" y="484187"/>
                </a:cubicBezTo>
                <a:cubicBezTo>
                  <a:pt x="285750" y="470991"/>
                  <a:pt x="275134" y="460375"/>
                  <a:pt x="261937" y="460375"/>
                </a:cubicBezTo>
                <a:lnTo>
                  <a:pt x="214313" y="460375"/>
                </a:lnTo>
                <a:lnTo>
                  <a:pt x="214313" y="411262"/>
                </a:lnTo>
                <a:cubicBezTo>
                  <a:pt x="308273" y="399554"/>
                  <a:pt x="381000" y="319385"/>
                  <a:pt x="381000" y="222250"/>
                </a:cubicBezTo>
                <a:lnTo>
                  <a:pt x="381000" y="182563"/>
                </a:lnTo>
                <a:cubicBezTo>
                  <a:pt x="381000" y="169366"/>
                  <a:pt x="370384" y="158750"/>
                  <a:pt x="357188" y="158750"/>
                </a:cubicBezTo>
                <a:cubicBezTo>
                  <a:pt x="343991" y="158750"/>
                  <a:pt x="333375" y="169366"/>
                  <a:pt x="333375" y="182563"/>
                </a:cubicBezTo>
                <a:lnTo>
                  <a:pt x="333375" y="222250"/>
                </a:lnTo>
                <a:cubicBezTo>
                  <a:pt x="333375" y="301129"/>
                  <a:pt x="269379" y="365125"/>
                  <a:pt x="190500" y="365125"/>
                </a:cubicBezTo>
                <a:cubicBezTo>
                  <a:pt x="111621" y="365125"/>
                  <a:pt x="47625" y="301129"/>
                  <a:pt x="47625" y="222250"/>
                </a:cubicBezTo>
                <a:lnTo>
                  <a:pt x="47625" y="182563"/>
                </a:ln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0" y="2159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Speech-to-Text Silencieux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99500" y="27940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citoyen parle naturellement à l'application sans quitter l'interface. Écoute en arrière-plan pour une expérience fluide et sans friction.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2000" y="5080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" y="5397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529431" y="32246"/>
                </a:moveTo>
                <a:cubicBezTo>
                  <a:pt x="519212" y="23912"/>
                  <a:pt x="504230" y="25499"/>
                  <a:pt x="495895" y="35719"/>
                </a:cubicBezTo>
                <a:cubicBezTo>
                  <a:pt x="487561" y="45938"/>
                  <a:pt x="489148" y="60920"/>
                  <a:pt x="499368" y="69255"/>
                </a:cubicBezTo>
                <a:cubicBezTo>
                  <a:pt x="553145" y="112911"/>
                  <a:pt x="587375" y="179388"/>
                  <a:pt x="587375" y="254000"/>
                </a:cubicBezTo>
                <a:cubicBezTo>
                  <a:pt x="587375" y="328613"/>
                  <a:pt x="553145" y="395089"/>
                  <a:pt x="499368" y="438845"/>
                </a:cubicBezTo>
                <a:cubicBezTo>
                  <a:pt x="489148" y="447179"/>
                  <a:pt x="487660" y="462161"/>
                  <a:pt x="495895" y="472380"/>
                </a:cubicBezTo>
                <a:cubicBezTo>
                  <a:pt x="504130" y="482600"/>
                  <a:pt x="519212" y="484088"/>
                  <a:pt x="529431" y="475853"/>
                </a:cubicBezTo>
                <a:cubicBezTo>
                  <a:pt x="593824" y="423366"/>
                  <a:pt x="635000" y="343495"/>
                  <a:pt x="635000" y="254000"/>
                </a:cubicBezTo>
                <a:cubicBezTo>
                  <a:pt x="635000" y="164505"/>
                  <a:pt x="593824" y="84534"/>
                  <a:pt x="529431" y="32246"/>
                </a:cubicBezTo>
                <a:close/>
                <a:moveTo>
                  <a:pt x="469404" y="106164"/>
                </a:moveTo>
                <a:cubicBezTo>
                  <a:pt x="459184" y="97830"/>
                  <a:pt x="444202" y="99417"/>
                  <a:pt x="435868" y="109637"/>
                </a:cubicBezTo>
                <a:cubicBezTo>
                  <a:pt x="427534" y="119856"/>
                  <a:pt x="429121" y="134838"/>
                  <a:pt x="439341" y="143173"/>
                </a:cubicBezTo>
                <a:cubicBezTo>
                  <a:pt x="471587" y="169366"/>
                  <a:pt x="492125" y="209252"/>
                  <a:pt x="492125" y="254000"/>
                </a:cubicBezTo>
                <a:cubicBezTo>
                  <a:pt x="492125" y="298748"/>
                  <a:pt x="471587" y="338634"/>
                  <a:pt x="439341" y="364927"/>
                </a:cubicBezTo>
                <a:cubicBezTo>
                  <a:pt x="429121" y="373261"/>
                  <a:pt x="427633" y="388243"/>
                  <a:pt x="435868" y="398463"/>
                </a:cubicBezTo>
                <a:cubicBezTo>
                  <a:pt x="444103" y="408682"/>
                  <a:pt x="459184" y="410170"/>
                  <a:pt x="469404" y="401935"/>
                </a:cubicBezTo>
                <a:cubicBezTo>
                  <a:pt x="512266" y="367010"/>
                  <a:pt x="539750" y="313730"/>
                  <a:pt x="539750" y="254099"/>
                </a:cubicBezTo>
                <a:cubicBezTo>
                  <a:pt x="539750" y="194469"/>
                  <a:pt x="512266" y="141188"/>
                  <a:pt x="469404" y="106263"/>
                </a:cubicBezTo>
                <a:close/>
                <a:moveTo>
                  <a:pt x="409377" y="180082"/>
                </a:moveTo>
                <a:cubicBezTo>
                  <a:pt x="399157" y="171748"/>
                  <a:pt x="384175" y="173335"/>
                  <a:pt x="375841" y="183555"/>
                </a:cubicBezTo>
                <a:cubicBezTo>
                  <a:pt x="367506" y="193774"/>
                  <a:pt x="369094" y="208756"/>
                  <a:pt x="379313" y="217091"/>
                </a:cubicBezTo>
                <a:cubicBezTo>
                  <a:pt x="390029" y="225822"/>
                  <a:pt x="396875" y="239117"/>
                  <a:pt x="396875" y="254000"/>
                </a:cubicBezTo>
                <a:cubicBezTo>
                  <a:pt x="396875" y="268883"/>
                  <a:pt x="390029" y="282178"/>
                  <a:pt x="379313" y="291009"/>
                </a:cubicBezTo>
                <a:cubicBezTo>
                  <a:pt x="369094" y="299343"/>
                  <a:pt x="367605" y="314325"/>
                  <a:pt x="375841" y="324545"/>
                </a:cubicBezTo>
                <a:cubicBezTo>
                  <a:pt x="384076" y="334764"/>
                  <a:pt x="399157" y="336252"/>
                  <a:pt x="409377" y="328017"/>
                </a:cubicBezTo>
                <a:cubicBezTo>
                  <a:pt x="430709" y="310455"/>
                  <a:pt x="444500" y="283865"/>
                  <a:pt x="444500" y="254000"/>
                </a:cubicBezTo>
                <a:cubicBezTo>
                  <a:pt x="444500" y="224135"/>
                  <a:pt x="430709" y="197545"/>
                  <a:pt x="409377" y="180082"/>
                </a:cubicBezTo>
                <a:close/>
                <a:moveTo>
                  <a:pt x="79375" y="349250"/>
                </a:moveTo>
                <a:lnTo>
                  <a:pt x="127000" y="349250"/>
                </a:lnTo>
                <a:lnTo>
                  <a:pt x="260052" y="467519"/>
                </a:lnTo>
                <a:cubicBezTo>
                  <a:pt x="266402" y="473174"/>
                  <a:pt x="274538" y="476250"/>
                  <a:pt x="282972" y="476250"/>
                </a:cubicBezTo>
                <a:cubicBezTo>
                  <a:pt x="302022" y="476250"/>
                  <a:pt x="317500" y="460772"/>
                  <a:pt x="317500" y="441722"/>
                </a:cubicBezTo>
                <a:lnTo>
                  <a:pt x="317500" y="66278"/>
                </a:lnTo>
                <a:cubicBezTo>
                  <a:pt x="317500" y="47228"/>
                  <a:pt x="302022" y="31750"/>
                  <a:pt x="282972" y="31750"/>
                </a:cubicBezTo>
                <a:cubicBezTo>
                  <a:pt x="274538" y="31750"/>
                  <a:pt x="266402" y="34826"/>
                  <a:pt x="260052" y="40481"/>
                </a:cubicBezTo>
                <a:lnTo>
                  <a:pt x="127000" y="158750"/>
                </a:lnTo>
                <a:lnTo>
                  <a:pt x="79375" y="158750"/>
                </a:lnTo>
                <a:cubicBezTo>
                  <a:pt x="53082" y="158750"/>
                  <a:pt x="31750" y="180082"/>
                  <a:pt x="31750" y="206375"/>
                </a:cubicBezTo>
                <a:lnTo>
                  <a:pt x="31750" y="301625"/>
                </a:lnTo>
                <a:cubicBezTo>
                  <a:pt x="31750" y="327918"/>
                  <a:pt x="53082" y="349250"/>
                  <a:pt x="79375" y="34925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6" name="Text 14"/>
          <p:cNvSpPr/>
          <p:nvPr/>
        </p:nvSpPr>
        <p:spPr>
          <a:xfrm>
            <a:off x="1841500" y="5397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Text-to-Speech Français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60325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L'assistant IA répond vocalement en français pour guider l'utilisateur à chaque étape du signalement, rendant l'application accessible à tous.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18500" y="5080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67750" y="5397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20" name="Text 18"/>
          <p:cNvSpPr/>
          <p:nvPr/>
        </p:nvSpPr>
        <p:spPr>
          <a:xfrm>
            <a:off x="9398000" y="5397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Bulles de Chat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99500" y="60325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système de bulles de chat façon ChatGPT/WhatsApp pour un suivi intuitif et une expérience conversationnelle naturelle.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Outils Avancés et UX Premium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9200" y="2349500"/>
            <a:ext cx="863600" cy="863600"/>
          </a:xfrm>
          <a:prstGeom prst="ellipse">
            <a:avLst/>
          </a:prstGeom>
          <a:solidFill>
            <a:srgbClr val="00E5C0">
              <a:alpha val="8235"/>
            </a:srgbClr>
          </a:solidFill>
          <a:ln w="12700">
            <a:solidFill>
              <a:srgbClr val="00E5C0">
                <a:alpha val="25098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3825" y="25527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14287"/>
                </a:moveTo>
                <a:cubicBezTo>
                  <a:pt x="272981" y="-14287"/>
                  <a:pt x="285750" y="-1518"/>
                  <a:pt x="285750" y="14288"/>
                </a:cubicBezTo>
                <a:lnTo>
                  <a:pt x="285750" y="30629"/>
                </a:lnTo>
                <a:cubicBezTo>
                  <a:pt x="373350" y="43130"/>
                  <a:pt x="442645" y="112425"/>
                  <a:pt x="455146" y="200025"/>
                </a:cubicBezTo>
                <a:lnTo>
                  <a:pt x="471488" y="200025"/>
                </a:lnTo>
                <a:cubicBezTo>
                  <a:pt x="487293" y="200025"/>
                  <a:pt x="500063" y="212794"/>
                  <a:pt x="500063" y="228600"/>
                </a:cubicBezTo>
                <a:cubicBezTo>
                  <a:pt x="500063" y="244406"/>
                  <a:pt x="487293" y="257175"/>
                  <a:pt x="471488" y="257175"/>
                </a:cubicBezTo>
                <a:lnTo>
                  <a:pt x="455146" y="257175"/>
                </a:lnTo>
                <a:cubicBezTo>
                  <a:pt x="442645" y="344775"/>
                  <a:pt x="373350" y="414070"/>
                  <a:pt x="285750" y="426571"/>
                </a:cubicBezTo>
                <a:lnTo>
                  <a:pt x="285750" y="442913"/>
                </a:lnTo>
                <a:cubicBezTo>
                  <a:pt x="285750" y="458718"/>
                  <a:pt x="272981" y="471488"/>
                  <a:pt x="257175" y="471488"/>
                </a:cubicBezTo>
                <a:cubicBezTo>
                  <a:pt x="241369" y="471488"/>
                  <a:pt x="228600" y="458718"/>
                  <a:pt x="228600" y="442913"/>
                </a:cubicBezTo>
                <a:lnTo>
                  <a:pt x="228600" y="426571"/>
                </a:lnTo>
                <a:cubicBezTo>
                  <a:pt x="141000" y="414070"/>
                  <a:pt x="71705" y="344775"/>
                  <a:pt x="59204" y="257175"/>
                </a:cubicBezTo>
                <a:lnTo>
                  <a:pt x="42863" y="257175"/>
                </a:lnTo>
                <a:cubicBezTo>
                  <a:pt x="27057" y="257175"/>
                  <a:pt x="14288" y="244406"/>
                  <a:pt x="14288" y="228600"/>
                </a:cubicBezTo>
                <a:cubicBezTo>
                  <a:pt x="14288" y="212794"/>
                  <a:pt x="27057" y="200025"/>
                  <a:pt x="42863" y="200025"/>
                </a:cubicBezTo>
                <a:lnTo>
                  <a:pt x="59204" y="200025"/>
                </a:lnTo>
                <a:cubicBezTo>
                  <a:pt x="71705" y="112425"/>
                  <a:pt x="141000" y="43130"/>
                  <a:pt x="228600" y="30629"/>
                </a:cubicBezTo>
                <a:lnTo>
                  <a:pt x="228600" y="14288"/>
                </a:lnTo>
                <a:cubicBezTo>
                  <a:pt x="228600" y="-1518"/>
                  <a:pt x="241369" y="-14287"/>
                  <a:pt x="257175" y="-14287"/>
                </a:cubicBezTo>
                <a:close/>
                <a:moveTo>
                  <a:pt x="114300" y="228600"/>
                </a:moveTo>
                <a:cubicBezTo>
                  <a:pt x="114300" y="307455"/>
                  <a:pt x="178320" y="371475"/>
                  <a:pt x="257175" y="371475"/>
                </a:cubicBezTo>
                <a:cubicBezTo>
                  <a:pt x="336030" y="371475"/>
                  <a:pt x="400050" y="307455"/>
                  <a:pt x="400050" y="228600"/>
                </a:cubicBezTo>
                <a:cubicBezTo>
                  <a:pt x="400050" y="149745"/>
                  <a:pt x="336030" y="85725"/>
                  <a:pt x="257175" y="85725"/>
                </a:cubicBezTo>
                <a:cubicBezTo>
                  <a:pt x="178320" y="85725"/>
                  <a:pt x="114300" y="149745"/>
                  <a:pt x="114300" y="228600"/>
                </a:cubicBezTo>
                <a:close/>
                <a:moveTo>
                  <a:pt x="257175" y="142875"/>
                </a:moveTo>
                <a:cubicBezTo>
                  <a:pt x="304488" y="142875"/>
                  <a:pt x="342900" y="181287"/>
                  <a:pt x="342900" y="228600"/>
                </a:cubicBezTo>
                <a:cubicBezTo>
                  <a:pt x="342900" y="275913"/>
                  <a:pt x="304488" y="314325"/>
                  <a:pt x="257175" y="314325"/>
                </a:cubicBezTo>
                <a:cubicBezTo>
                  <a:pt x="209862" y="314325"/>
                  <a:pt x="171450" y="275913"/>
                  <a:pt x="171450" y="228600"/>
                </a:cubicBezTo>
                <a:cubicBezTo>
                  <a:pt x="171450" y="181287"/>
                  <a:pt x="209862" y="142875"/>
                  <a:pt x="257175" y="142875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4925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Localisation GPS Précise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0" y="4000500"/>
            <a:ext cx="1524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9500" y="4191000"/>
            <a:ext cx="393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Utilisation de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FusedLocation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des coordonnées géographiques exactes, combinant GPS, Wi-Fi et réseaux cellulaires.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42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69200" y="2349500"/>
            <a:ext cx="863600" cy="863600"/>
          </a:xfrm>
          <a:prstGeom prst="ellipse">
            <a:avLst/>
          </a:prstGeom>
          <a:solidFill>
            <a:srgbClr val="00E5C0">
              <a:alpha val="8235"/>
            </a:srgbClr>
          </a:solidFill>
          <a:ln w="12700">
            <a:solidFill>
              <a:srgbClr val="00E5C0">
                <a:alpha val="25098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552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159500" y="34925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Géo-Navigation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66000" y="4000500"/>
            <a:ext cx="1524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159500" y="4191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 de la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distance géodésique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entre le citoyen et l'incident, avec redirection vers Google Maps.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22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49200" y="2349500"/>
            <a:ext cx="863600" cy="863600"/>
          </a:xfrm>
          <a:prstGeom prst="ellipse">
            <a:avLst/>
          </a:prstGeom>
          <a:solidFill>
            <a:srgbClr val="00E5C0">
              <a:alpha val="8235"/>
            </a:srgbClr>
          </a:solidFill>
          <a:ln w="12700">
            <a:solidFill>
              <a:srgbClr val="00E5C0">
                <a:alpha val="25098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23825" y="25527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35208" y="-24110"/>
                </a:moveTo>
                <a:lnTo>
                  <a:pt x="248424" y="8751"/>
                </a:lnTo>
                <a:lnTo>
                  <a:pt x="281285" y="21967"/>
                </a:lnTo>
                <a:cubicBezTo>
                  <a:pt x="283964" y="23039"/>
                  <a:pt x="285750" y="25718"/>
                  <a:pt x="285750" y="28575"/>
                </a:cubicBezTo>
                <a:cubicBezTo>
                  <a:pt x="285750" y="31433"/>
                  <a:pt x="283964" y="34111"/>
                  <a:pt x="281285" y="35183"/>
                </a:cubicBezTo>
                <a:lnTo>
                  <a:pt x="248424" y="48399"/>
                </a:lnTo>
                <a:lnTo>
                  <a:pt x="235208" y="81260"/>
                </a:lnTo>
                <a:cubicBezTo>
                  <a:pt x="234136" y="83939"/>
                  <a:pt x="231458" y="85725"/>
                  <a:pt x="228600" y="85725"/>
                </a:cubicBezTo>
                <a:cubicBezTo>
                  <a:pt x="225742" y="85725"/>
                  <a:pt x="223064" y="83939"/>
                  <a:pt x="221992" y="81260"/>
                </a:cubicBezTo>
                <a:lnTo>
                  <a:pt x="208776" y="48399"/>
                </a:lnTo>
                <a:lnTo>
                  <a:pt x="175915" y="35183"/>
                </a:lnTo>
                <a:cubicBezTo>
                  <a:pt x="173236" y="34111"/>
                  <a:pt x="171450" y="31432"/>
                  <a:pt x="171450" y="28575"/>
                </a:cubicBezTo>
                <a:cubicBezTo>
                  <a:pt x="171450" y="25718"/>
                  <a:pt x="173236" y="23039"/>
                  <a:pt x="175915" y="21967"/>
                </a:cubicBezTo>
                <a:lnTo>
                  <a:pt x="208776" y="8751"/>
                </a:lnTo>
                <a:lnTo>
                  <a:pt x="221992" y="-24110"/>
                </a:lnTo>
                <a:cubicBezTo>
                  <a:pt x="223064" y="-26789"/>
                  <a:pt x="225743" y="-28575"/>
                  <a:pt x="228600" y="-28575"/>
                </a:cubicBezTo>
                <a:cubicBezTo>
                  <a:pt x="231458" y="-28575"/>
                  <a:pt x="234136" y="-26789"/>
                  <a:pt x="235208" y="-24110"/>
                </a:cubicBezTo>
                <a:close/>
                <a:moveTo>
                  <a:pt x="98852" y="37237"/>
                </a:moveTo>
                <a:lnTo>
                  <a:pt x="118050" y="81975"/>
                </a:lnTo>
                <a:lnTo>
                  <a:pt x="162788" y="101173"/>
                </a:lnTo>
                <a:cubicBezTo>
                  <a:pt x="168057" y="103406"/>
                  <a:pt x="171450" y="108585"/>
                  <a:pt x="171450" y="114300"/>
                </a:cubicBezTo>
                <a:cubicBezTo>
                  <a:pt x="171450" y="120015"/>
                  <a:pt x="168057" y="125194"/>
                  <a:pt x="162788" y="127427"/>
                </a:cubicBezTo>
                <a:lnTo>
                  <a:pt x="118050" y="146625"/>
                </a:lnTo>
                <a:lnTo>
                  <a:pt x="98852" y="191363"/>
                </a:lnTo>
                <a:cubicBezTo>
                  <a:pt x="96619" y="196632"/>
                  <a:pt x="91440" y="200025"/>
                  <a:pt x="85725" y="200025"/>
                </a:cubicBezTo>
                <a:cubicBezTo>
                  <a:pt x="80010" y="200025"/>
                  <a:pt x="74831" y="196632"/>
                  <a:pt x="72598" y="191363"/>
                </a:cubicBezTo>
                <a:lnTo>
                  <a:pt x="53400" y="146625"/>
                </a:lnTo>
                <a:lnTo>
                  <a:pt x="8662" y="127427"/>
                </a:lnTo>
                <a:cubicBezTo>
                  <a:pt x="3393" y="125194"/>
                  <a:pt x="0" y="120015"/>
                  <a:pt x="0" y="114300"/>
                </a:cubicBezTo>
                <a:cubicBezTo>
                  <a:pt x="0" y="108585"/>
                  <a:pt x="3393" y="103406"/>
                  <a:pt x="8662" y="101173"/>
                </a:cubicBezTo>
                <a:lnTo>
                  <a:pt x="53400" y="81975"/>
                </a:lnTo>
                <a:lnTo>
                  <a:pt x="72598" y="37237"/>
                </a:lnTo>
                <a:cubicBezTo>
                  <a:pt x="74831" y="31968"/>
                  <a:pt x="80010" y="28575"/>
                  <a:pt x="85725" y="28575"/>
                </a:cubicBezTo>
                <a:cubicBezTo>
                  <a:pt x="91440" y="28575"/>
                  <a:pt x="96619" y="31968"/>
                  <a:pt x="98852" y="37237"/>
                </a:cubicBezTo>
                <a:close/>
                <a:moveTo>
                  <a:pt x="414338" y="271463"/>
                </a:moveTo>
                <a:cubicBezTo>
                  <a:pt x="420053" y="271463"/>
                  <a:pt x="425232" y="274856"/>
                  <a:pt x="427464" y="280124"/>
                </a:cubicBezTo>
                <a:lnTo>
                  <a:pt x="446663" y="324862"/>
                </a:lnTo>
                <a:lnTo>
                  <a:pt x="491401" y="344061"/>
                </a:lnTo>
                <a:cubicBezTo>
                  <a:pt x="496669" y="346293"/>
                  <a:pt x="500063" y="351473"/>
                  <a:pt x="500063" y="357188"/>
                </a:cubicBezTo>
                <a:cubicBezTo>
                  <a:pt x="500063" y="362903"/>
                  <a:pt x="496669" y="368082"/>
                  <a:pt x="491401" y="370314"/>
                </a:cubicBezTo>
                <a:lnTo>
                  <a:pt x="446663" y="389513"/>
                </a:lnTo>
                <a:lnTo>
                  <a:pt x="427464" y="434251"/>
                </a:lnTo>
                <a:cubicBezTo>
                  <a:pt x="425232" y="439519"/>
                  <a:pt x="420052" y="442913"/>
                  <a:pt x="414337" y="442913"/>
                </a:cubicBezTo>
                <a:cubicBezTo>
                  <a:pt x="408622" y="442913"/>
                  <a:pt x="403443" y="439519"/>
                  <a:pt x="401211" y="434251"/>
                </a:cubicBezTo>
                <a:lnTo>
                  <a:pt x="382012" y="389513"/>
                </a:lnTo>
                <a:lnTo>
                  <a:pt x="337274" y="370314"/>
                </a:lnTo>
                <a:cubicBezTo>
                  <a:pt x="332006" y="368082"/>
                  <a:pt x="328613" y="362903"/>
                  <a:pt x="328613" y="357188"/>
                </a:cubicBezTo>
                <a:cubicBezTo>
                  <a:pt x="328613" y="351473"/>
                  <a:pt x="332006" y="346293"/>
                  <a:pt x="337274" y="344061"/>
                </a:cubicBezTo>
                <a:lnTo>
                  <a:pt x="382012" y="324862"/>
                </a:lnTo>
                <a:lnTo>
                  <a:pt x="401211" y="280124"/>
                </a:lnTo>
                <a:cubicBezTo>
                  <a:pt x="403443" y="274856"/>
                  <a:pt x="408622" y="271463"/>
                  <a:pt x="414337" y="271463"/>
                </a:cubicBezTo>
                <a:close/>
                <a:moveTo>
                  <a:pt x="410766" y="0"/>
                </a:moveTo>
                <a:cubicBezTo>
                  <a:pt x="420588" y="0"/>
                  <a:pt x="430054" y="3929"/>
                  <a:pt x="437108" y="10894"/>
                </a:cubicBezTo>
                <a:lnTo>
                  <a:pt x="474881" y="48667"/>
                </a:lnTo>
                <a:cubicBezTo>
                  <a:pt x="481846" y="55721"/>
                  <a:pt x="485775" y="65187"/>
                  <a:pt x="485775" y="75009"/>
                </a:cubicBezTo>
                <a:cubicBezTo>
                  <a:pt x="485775" y="84832"/>
                  <a:pt x="481846" y="94298"/>
                  <a:pt x="474881" y="101352"/>
                </a:cubicBezTo>
                <a:lnTo>
                  <a:pt x="396121" y="180112"/>
                </a:lnTo>
                <a:lnTo>
                  <a:pt x="305663" y="89654"/>
                </a:lnTo>
                <a:lnTo>
                  <a:pt x="384423" y="10894"/>
                </a:lnTo>
                <a:cubicBezTo>
                  <a:pt x="391478" y="3929"/>
                  <a:pt x="400943" y="0"/>
                  <a:pt x="410766" y="0"/>
                </a:cubicBezTo>
                <a:close/>
                <a:moveTo>
                  <a:pt x="39469" y="355848"/>
                </a:moveTo>
                <a:lnTo>
                  <a:pt x="275392" y="119926"/>
                </a:lnTo>
                <a:lnTo>
                  <a:pt x="365849" y="210383"/>
                </a:lnTo>
                <a:lnTo>
                  <a:pt x="129927" y="446306"/>
                </a:lnTo>
                <a:cubicBezTo>
                  <a:pt x="122873" y="453271"/>
                  <a:pt x="113407" y="457200"/>
                  <a:pt x="103584" y="457200"/>
                </a:cubicBezTo>
                <a:cubicBezTo>
                  <a:pt x="93762" y="457200"/>
                  <a:pt x="84296" y="453271"/>
                  <a:pt x="77242" y="446306"/>
                </a:cubicBezTo>
                <a:lnTo>
                  <a:pt x="39469" y="408533"/>
                </a:lnTo>
                <a:cubicBezTo>
                  <a:pt x="32504" y="401479"/>
                  <a:pt x="28575" y="392013"/>
                  <a:pt x="28575" y="382191"/>
                </a:cubicBezTo>
                <a:cubicBezTo>
                  <a:pt x="28575" y="372368"/>
                  <a:pt x="32504" y="362903"/>
                  <a:pt x="39469" y="355848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21" name="Text 19"/>
          <p:cNvSpPr/>
          <p:nvPr/>
        </p:nvSpPr>
        <p:spPr>
          <a:xfrm>
            <a:off x="11239500" y="34925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Glassmorphism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446000" y="4000500"/>
            <a:ext cx="1524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1239500" y="4191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 premium avec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Dark Mode natif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transparence pour une expérience utilisateur moderne.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L'Espace Administrateur et Temps Réel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pic>
        <p:nvPicPr>
          <p:cNvPr id="6" name="Image 0" descr="https://kimi-img.moonshot.cn/pub/slides/okc/epbcwrd62phdo/mnt/agents/output/smartcity/images/1_Our_New_Admin_Template_18_Admin_Dashboards.png">    </p:cNvPr>
          <p:cNvPicPr>
            <a:picLocks noChangeAspect="1"/>
          </p:cNvPicPr>
          <p:nvPr/>
        </p:nvPicPr>
        <p:blipFill>
          <a:blip r:embed="rId1"/>
          <a:srcRect l="680" r="680" t="0" b="0"/>
          <a:stretch/>
        </p:blipFill>
        <p:spPr>
          <a:xfrm>
            <a:off x="9398000" y="1841500"/>
            <a:ext cx="6096000" cy="6223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62000" y="1841500"/>
            <a:ext cx="82550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9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9" name="Text 6"/>
          <p:cNvSpPr/>
          <p:nvPr/>
        </p:nvSpPr>
        <p:spPr>
          <a:xfrm>
            <a:off x="1714500" y="20701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Tableau de Bord Centralisé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14500" y="2514600"/>
            <a:ext cx="698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centralisée pour les autorités : changement de statut des signalements (En attente, En cours, Résolu).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62000" y="3937000"/>
            <a:ext cx="82550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95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3" name="Text 10"/>
          <p:cNvSpPr/>
          <p:nvPr/>
        </p:nvSpPr>
        <p:spPr>
          <a:xfrm>
            <a:off x="1714500" y="41656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Boucle de Rétroaction Automatique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14500" y="4610100"/>
            <a:ext cx="698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Lorsqu'un incident est marqué "Résolu", le backend prend le relais automatiquement sans intervention manuelle.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62000" y="6032500"/>
            <a:ext cx="8255000" cy="2032000"/>
          </a:xfrm>
          <a:prstGeom prst="roundRect">
            <a:avLst>
              <a:gd name="adj" fmla="val 8000"/>
            </a:avLst>
          </a:prstGeom>
          <a:solidFill>
            <a:srgbClr val="00E5C0">
              <a:alpha val="6275"/>
            </a:srgbClr>
          </a:solidFill>
          <a:ln w="12700">
            <a:solidFill>
              <a:srgbClr val="00E5C0">
                <a:alpha val="31373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8075" y="628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7" name="Text 14"/>
          <p:cNvSpPr/>
          <p:nvPr/>
        </p:nvSpPr>
        <p:spPr>
          <a:xfrm>
            <a:off x="1714500" y="62611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Firebase Cloud Messaging (FCM)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714500" y="6705600"/>
            <a:ext cx="698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Notification Push instantanée sur le smartphone du citoyen 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0E5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"Votre signalement est résolu !"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Technique et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8415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1250" y="215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17215" y="251916"/>
                </a:moveTo>
                <a:cubicBezTo>
                  <a:pt x="425722" y="251916"/>
                  <a:pt x="433583" y="256455"/>
                  <a:pt x="437837" y="263823"/>
                </a:cubicBezTo>
                <a:cubicBezTo>
                  <a:pt x="442091" y="271190"/>
                  <a:pt x="442091" y="280268"/>
                  <a:pt x="437837" y="287635"/>
                </a:cubicBezTo>
                <a:cubicBezTo>
                  <a:pt x="433583" y="295003"/>
                  <a:pt x="425722" y="299541"/>
                  <a:pt x="417215" y="299541"/>
                </a:cubicBezTo>
                <a:cubicBezTo>
                  <a:pt x="404072" y="299541"/>
                  <a:pt x="393402" y="288871"/>
                  <a:pt x="393402" y="275729"/>
                </a:cubicBezTo>
                <a:cubicBezTo>
                  <a:pt x="393402" y="262586"/>
                  <a:pt x="404072" y="251916"/>
                  <a:pt x="417215" y="251916"/>
                </a:cubicBezTo>
                <a:close/>
                <a:moveTo>
                  <a:pt x="154186" y="251916"/>
                </a:moveTo>
                <a:cubicBezTo>
                  <a:pt x="162693" y="251916"/>
                  <a:pt x="170554" y="256455"/>
                  <a:pt x="174808" y="263823"/>
                </a:cubicBezTo>
                <a:cubicBezTo>
                  <a:pt x="179062" y="271190"/>
                  <a:pt x="179062" y="280268"/>
                  <a:pt x="174808" y="287635"/>
                </a:cubicBezTo>
                <a:cubicBezTo>
                  <a:pt x="170554" y="295003"/>
                  <a:pt x="162693" y="299541"/>
                  <a:pt x="154186" y="299541"/>
                </a:cubicBezTo>
                <a:cubicBezTo>
                  <a:pt x="141043" y="299541"/>
                  <a:pt x="130373" y="288871"/>
                  <a:pt x="130373" y="275729"/>
                </a:cubicBezTo>
                <a:cubicBezTo>
                  <a:pt x="130373" y="262586"/>
                  <a:pt x="141043" y="251916"/>
                  <a:pt x="154186" y="251916"/>
                </a:cubicBezTo>
                <a:close/>
                <a:moveTo>
                  <a:pt x="425748" y="156170"/>
                </a:moveTo>
                <a:lnTo>
                  <a:pt x="473273" y="73819"/>
                </a:lnTo>
                <a:cubicBezTo>
                  <a:pt x="474067" y="72727"/>
                  <a:pt x="474563" y="71438"/>
                  <a:pt x="474762" y="70048"/>
                </a:cubicBezTo>
                <a:cubicBezTo>
                  <a:pt x="474960" y="68659"/>
                  <a:pt x="474960" y="67370"/>
                  <a:pt x="474662" y="65980"/>
                </a:cubicBezTo>
                <a:cubicBezTo>
                  <a:pt x="474365" y="64591"/>
                  <a:pt x="473770" y="63401"/>
                  <a:pt x="472976" y="62309"/>
                </a:cubicBezTo>
                <a:cubicBezTo>
                  <a:pt x="472182" y="61218"/>
                  <a:pt x="471190" y="60325"/>
                  <a:pt x="469999" y="59630"/>
                </a:cubicBezTo>
                <a:cubicBezTo>
                  <a:pt x="468809" y="58936"/>
                  <a:pt x="467519" y="58539"/>
                  <a:pt x="466130" y="58341"/>
                </a:cubicBezTo>
                <a:cubicBezTo>
                  <a:pt x="464741" y="58142"/>
                  <a:pt x="463451" y="58341"/>
                  <a:pt x="462161" y="58738"/>
                </a:cubicBezTo>
                <a:cubicBezTo>
                  <a:pt x="460871" y="59134"/>
                  <a:pt x="459680" y="59829"/>
                  <a:pt x="458589" y="60623"/>
                </a:cubicBezTo>
                <a:cubicBezTo>
                  <a:pt x="457498" y="61416"/>
                  <a:pt x="456704" y="62607"/>
                  <a:pt x="456109" y="63798"/>
                </a:cubicBezTo>
                <a:lnTo>
                  <a:pt x="407987" y="147241"/>
                </a:lnTo>
                <a:cubicBezTo>
                  <a:pt x="369491" y="129977"/>
                  <a:pt x="327819" y="121047"/>
                  <a:pt x="285651" y="121047"/>
                </a:cubicBezTo>
                <a:cubicBezTo>
                  <a:pt x="243483" y="121047"/>
                  <a:pt x="201811" y="129977"/>
                  <a:pt x="163314" y="147241"/>
                </a:cubicBezTo>
                <a:lnTo>
                  <a:pt x="115292" y="63897"/>
                </a:lnTo>
                <a:cubicBezTo>
                  <a:pt x="114697" y="62706"/>
                  <a:pt x="113804" y="61615"/>
                  <a:pt x="112812" y="60722"/>
                </a:cubicBezTo>
                <a:cubicBezTo>
                  <a:pt x="111820" y="59829"/>
                  <a:pt x="110530" y="59234"/>
                  <a:pt x="109240" y="58837"/>
                </a:cubicBezTo>
                <a:cubicBezTo>
                  <a:pt x="107950" y="58440"/>
                  <a:pt x="106561" y="58341"/>
                  <a:pt x="105271" y="58440"/>
                </a:cubicBezTo>
                <a:cubicBezTo>
                  <a:pt x="103981" y="58539"/>
                  <a:pt x="102592" y="59035"/>
                  <a:pt x="101402" y="59730"/>
                </a:cubicBezTo>
                <a:cubicBezTo>
                  <a:pt x="100211" y="60424"/>
                  <a:pt x="99219" y="61317"/>
                  <a:pt x="98425" y="62409"/>
                </a:cubicBezTo>
                <a:cubicBezTo>
                  <a:pt x="97631" y="63500"/>
                  <a:pt x="97036" y="64790"/>
                  <a:pt x="96738" y="66080"/>
                </a:cubicBezTo>
                <a:cubicBezTo>
                  <a:pt x="96441" y="67370"/>
                  <a:pt x="96441" y="68759"/>
                  <a:pt x="96639" y="70148"/>
                </a:cubicBezTo>
                <a:cubicBezTo>
                  <a:pt x="96838" y="71537"/>
                  <a:pt x="97433" y="72727"/>
                  <a:pt x="98127" y="73918"/>
                </a:cubicBezTo>
                <a:lnTo>
                  <a:pt x="145653" y="156270"/>
                </a:lnTo>
                <a:cubicBezTo>
                  <a:pt x="63996" y="200620"/>
                  <a:pt x="8136" y="283270"/>
                  <a:pt x="0" y="381000"/>
                </a:cubicBezTo>
                <a:lnTo>
                  <a:pt x="571500" y="381000"/>
                </a:lnTo>
                <a:cubicBezTo>
                  <a:pt x="563364" y="283270"/>
                  <a:pt x="507504" y="200620"/>
                  <a:pt x="425748" y="15617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8" name="Text 6"/>
          <p:cNvSpPr/>
          <p:nvPr/>
        </p:nvSpPr>
        <p:spPr>
          <a:xfrm>
            <a:off x="1841500" y="2159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Mobile - Android Natif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41500" y="26035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48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Accès direct au matériel du smartphone 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Caméra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les photos,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GPS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la géolocalisation,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Micro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le vocal.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18500" y="18415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31250" y="215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0" y="2159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&amp; API - Laravel 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98000" y="2603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3048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Framework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Laravel 11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une API REST sécurisée, performante et scalable.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750" y="5397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8" name="Text 16"/>
          <p:cNvSpPr/>
          <p:nvPr/>
        </p:nvSpPr>
        <p:spPr>
          <a:xfrm>
            <a:off x="1841500" y="5397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 - SQLite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41500" y="5842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EMBARQUÉE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6286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Gestion de données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légère, rapide et embarquée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directement sur l'appareil mobile.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18500" y="5080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00E5C0">
              <a:alpha val="6275"/>
            </a:srgbClr>
          </a:solidFill>
          <a:ln w="12700">
            <a:solidFill>
              <a:srgbClr val="00E5C0">
                <a:alpha val="31373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67750" y="5397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0" y="333375"/>
                </a:moveTo>
                <a:cubicBezTo>
                  <a:pt x="0" y="412254"/>
                  <a:pt x="63996" y="476250"/>
                  <a:pt x="142875" y="476250"/>
                </a:cubicBezTo>
                <a:lnTo>
                  <a:pt x="444500" y="476250"/>
                </a:lnTo>
                <a:cubicBezTo>
                  <a:pt x="514648" y="476250"/>
                  <a:pt x="571500" y="419398"/>
                  <a:pt x="571500" y="349250"/>
                </a:cubicBezTo>
                <a:cubicBezTo>
                  <a:pt x="571500" y="298053"/>
                  <a:pt x="541238" y="253901"/>
                  <a:pt x="497582" y="233859"/>
                </a:cubicBezTo>
                <a:cubicBezTo>
                  <a:pt x="504230" y="220861"/>
                  <a:pt x="508000" y="206077"/>
                  <a:pt x="508000" y="190500"/>
                </a:cubicBezTo>
                <a:cubicBezTo>
                  <a:pt x="508000" y="137914"/>
                  <a:pt x="465336" y="95250"/>
                  <a:pt x="412750" y="95250"/>
                </a:cubicBezTo>
                <a:cubicBezTo>
                  <a:pt x="395188" y="95250"/>
                  <a:pt x="378817" y="100013"/>
                  <a:pt x="364728" y="108248"/>
                </a:cubicBezTo>
                <a:cubicBezTo>
                  <a:pt x="340816" y="62805"/>
                  <a:pt x="293092" y="31750"/>
                  <a:pt x="238125" y="31750"/>
                </a:cubicBezTo>
                <a:cubicBezTo>
                  <a:pt x="159246" y="31750"/>
                  <a:pt x="95250" y="95746"/>
                  <a:pt x="95250" y="174625"/>
                </a:cubicBezTo>
                <a:cubicBezTo>
                  <a:pt x="95250" y="182563"/>
                  <a:pt x="95945" y="190401"/>
                  <a:pt x="97135" y="197941"/>
                </a:cubicBezTo>
                <a:cubicBezTo>
                  <a:pt x="40680" y="216991"/>
                  <a:pt x="0" y="270470"/>
                  <a:pt x="0" y="333375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0" y="5397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 Cloud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98000" y="5842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+ FIREBASE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99500" y="6286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Gemini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l'IA Vision et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Firebase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les notifications Push en temps réel.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et Perspectives d'Évolution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524000" cy="0"/>
          </a:xfrm>
          <a:prstGeom prst="straightConnector1">
            <a:avLst/>
          </a:prstGeom>
          <a:noFill/>
          <a:ln w="381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905000"/>
            <a:ext cx="6858000" cy="6223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286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558800"/>
                </a:moveTo>
                <a:cubicBezTo>
                  <a:pt x="433605" y="558800"/>
                  <a:pt x="558800" y="433605"/>
                  <a:pt x="558800" y="279400"/>
                </a:cubicBezTo>
                <a:cubicBezTo>
                  <a:pt x="558800" y="125195"/>
                  <a:pt x="433605" y="0"/>
                  <a:pt x="279400" y="0"/>
                </a:cubicBezTo>
                <a:cubicBezTo>
                  <a:pt x="125195" y="0"/>
                  <a:pt x="0" y="125195"/>
                  <a:pt x="0" y="279400"/>
                </a:cubicBezTo>
                <a:cubicBezTo>
                  <a:pt x="0" y="433605"/>
                  <a:pt x="125195" y="558800"/>
                  <a:pt x="279400" y="558800"/>
                </a:cubicBezTo>
                <a:close/>
                <a:moveTo>
                  <a:pt x="371515" y="232142"/>
                </a:moveTo>
                <a:lnTo>
                  <a:pt x="284202" y="371842"/>
                </a:lnTo>
                <a:cubicBezTo>
                  <a:pt x="279618" y="379155"/>
                  <a:pt x="271760" y="383738"/>
                  <a:pt x="263138" y="384175"/>
                </a:cubicBezTo>
                <a:cubicBezTo>
                  <a:pt x="254516" y="384612"/>
                  <a:pt x="246221" y="380683"/>
                  <a:pt x="241092" y="373698"/>
                </a:cubicBezTo>
                <a:lnTo>
                  <a:pt x="188704" y="303848"/>
                </a:lnTo>
                <a:cubicBezTo>
                  <a:pt x="179973" y="292279"/>
                  <a:pt x="182374" y="275908"/>
                  <a:pt x="193943" y="267176"/>
                </a:cubicBezTo>
                <a:cubicBezTo>
                  <a:pt x="205512" y="258445"/>
                  <a:pt x="221883" y="260846"/>
                  <a:pt x="230614" y="272415"/>
                </a:cubicBezTo>
                <a:lnTo>
                  <a:pt x="260082" y="311706"/>
                </a:lnTo>
                <a:lnTo>
                  <a:pt x="327094" y="204420"/>
                </a:lnTo>
                <a:cubicBezTo>
                  <a:pt x="334734" y="192197"/>
                  <a:pt x="350887" y="188377"/>
                  <a:pt x="363220" y="196126"/>
                </a:cubicBezTo>
                <a:cubicBezTo>
                  <a:pt x="375553" y="203875"/>
                  <a:pt x="379264" y="219918"/>
                  <a:pt x="371515" y="232251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23241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3000" y="2984500"/>
            <a:ext cx="6096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143000" y="3238500"/>
            <a:ext cx="609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système </a:t>
            </a:r>
            <a:pPr>
              <a:lnSpc>
                <a:spcPct val="180000"/>
              </a:lnSpc>
            </a:pPr>
            <a:r>
              <a:rPr lang="en-US" sz="2000" b="1" dirty="0">
                <a:solidFill>
                  <a:srgbClr val="00E5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80000"/>
              </a:lnSpc>
            </a:pPr>
            <a:r>
              <a:rPr lang="en-US" sz="2000" b="1" dirty="0">
                <a:solidFill>
                  <a:srgbClr val="00E5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réactif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</a:t>
            </a:r>
            <a:pPr>
              <a:lnSpc>
                <a:spcPct val="180000"/>
              </a:lnSpc>
            </a:pPr>
            <a:r>
              <a:rPr lang="en-US" sz="2000" b="1" dirty="0">
                <a:solidFill>
                  <a:srgbClr val="00E5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prêt à moderniser la gestion urbaine.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 la photographie citoyenne à la notification de résolution, chaque étape est optimisée par l'Intelligence Artificielle.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01000" y="1905000"/>
            <a:ext cx="7493000" cy="6223000"/>
          </a:xfrm>
          <a:prstGeom prst="roundRect">
            <a:avLst>
              <a:gd name="adj" fmla="val 8000"/>
            </a:avLst>
          </a:prstGeom>
          <a:solidFill>
            <a:srgbClr val="00E5C0">
              <a:alpha val="3137"/>
            </a:srgbClr>
          </a:solidFill>
          <a:ln w="12700">
            <a:solidFill>
              <a:srgbClr val="00E5C0">
                <a:alpha val="18824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286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139700" y="349250"/>
                </a:moveTo>
                <a:lnTo>
                  <a:pt x="26739" y="349250"/>
                </a:lnTo>
                <a:cubicBezTo>
                  <a:pt x="-437" y="349250"/>
                  <a:pt x="-17135" y="319673"/>
                  <a:pt x="-3165" y="296317"/>
                </a:cubicBezTo>
                <a:lnTo>
                  <a:pt x="54570" y="200055"/>
                </a:lnTo>
                <a:cubicBezTo>
                  <a:pt x="64066" y="184229"/>
                  <a:pt x="81091" y="174625"/>
                  <a:pt x="99536" y="174625"/>
                </a:cubicBezTo>
                <a:lnTo>
                  <a:pt x="203220" y="174625"/>
                </a:lnTo>
                <a:cubicBezTo>
                  <a:pt x="286276" y="33943"/>
                  <a:pt x="410150" y="26849"/>
                  <a:pt x="492988" y="38963"/>
                </a:cubicBezTo>
                <a:cubicBezTo>
                  <a:pt x="506958" y="41037"/>
                  <a:pt x="517872" y="51951"/>
                  <a:pt x="519837" y="65812"/>
                </a:cubicBezTo>
                <a:cubicBezTo>
                  <a:pt x="531951" y="148650"/>
                  <a:pt x="524857" y="272524"/>
                  <a:pt x="384175" y="355580"/>
                </a:cubicBezTo>
                <a:lnTo>
                  <a:pt x="384175" y="459264"/>
                </a:lnTo>
                <a:cubicBezTo>
                  <a:pt x="384175" y="477709"/>
                  <a:pt x="374571" y="494734"/>
                  <a:pt x="358745" y="504230"/>
                </a:cubicBezTo>
                <a:lnTo>
                  <a:pt x="262483" y="561965"/>
                </a:lnTo>
                <a:cubicBezTo>
                  <a:pt x="239236" y="575935"/>
                  <a:pt x="209550" y="559127"/>
                  <a:pt x="209550" y="532061"/>
                </a:cubicBezTo>
                <a:lnTo>
                  <a:pt x="209550" y="419100"/>
                </a:lnTo>
                <a:cubicBezTo>
                  <a:pt x="209550" y="380573"/>
                  <a:pt x="178227" y="349250"/>
                  <a:pt x="139700" y="349250"/>
                </a:cubicBezTo>
                <a:lnTo>
                  <a:pt x="139591" y="349250"/>
                </a:lnTo>
                <a:close/>
                <a:moveTo>
                  <a:pt x="436563" y="174625"/>
                </a:moveTo>
                <a:cubicBezTo>
                  <a:pt x="436563" y="145712"/>
                  <a:pt x="413088" y="122238"/>
                  <a:pt x="384175" y="122238"/>
                </a:cubicBezTo>
                <a:cubicBezTo>
                  <a:pt x="355262" y="122238"/>
                  <a:pt x="331788" y="145712"/>
                  <a:pt x="331788" y="174625"/>
                </a:cubicBezTo>
                <a:cubicBezTo>
                  <a:pt x="331788" y="203538"/>
                  <a:pt x="355262" y="227013"/>
                  <a:pt x="384175" y="227013"/>
                </a:cubicBezTo>
                <a:cubicBezTo>
                  <a:pt x="413088" y="227013"/>
                  <a:pt x="436563" y="203538"/>
                  <a:pt x="436563" y="174625"/>
                </a:cubicBezTo>
                <a:close/>
              </a:path>
            </a:pathLst>
          </a:custGeom>
          <a:solidFill>
            <a:srgbClr val="00E5C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2324100"/>
            <a:ext cx="596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Perspectives (Future Work)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82000" y="2984500"/>
            <a:ext cx="6731000" cy="0"/>
          </a:xfrm>
          <a:prstGeom prst="straightConnector1">
            <a:avLst/>
          </a:prstGeom>
          <a:noFill/>
          <a:ln w="12700">
            <a:solidFill>
              <a:srgbClr val="00E5C0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382000" y="3327400"/>
            <a:ext cx="127000" cy="1270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16" name="Text 14"/>
          <p:cNvSpPr/>
          <p:nvPr/>
        </p:nvSpPr>
        <p:spPr>
          <a:xfrm>
            <a:off x="8699500" y="3200400"/>
            <a:ext cx="647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Carte thermique (Heatmap)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sur le web pour visualiser les zones critiques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82000" y="4343400"/>
            <a:ext cx="127000" cy="1270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4216400"/>
            <a:ext cx="647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AI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un traitement direct sur smartphone sans dépendance réseau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82000" y="5359400"/>
            <a:ext cx="127000" cy="1270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5232400"/>
            <a:ext cx="647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Extension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 la plateforme aux autres grandes métropoles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82000" y="6477000"/>
            <a:ext cx="6731000" cy="0"/>
          </a:xfrm>
          <a:prstGeom prst="straightConnector1">
            <a:avLst/>
          </a:prstGeom>
          <a:noFill/>
          <a:ln w="12700">
            <a:solidFill>
              <a:srgbClr val="00E5C0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382000" y="66675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i="1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"La ville intelligente de demain commence par la résolution intelligente des problèmes d'aujourd'hui."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14732000" cy="0"/>
          </a:xfrm>
          <a:prstGeom prst="straightConnector1">
            <a:avLst/>
          </a:prstGeom>
          <a:noFill/>
          <a:ln w="12700">
            <a:solidFill>
              <a:srgbClr val="00E5C0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203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300" kern="0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23000" y="2794000"/>
            <a:ext cx="3810000" cy="0"/>
          </a:xfrm>
          <a:prstGeom prst="straightConnector1">
            <a:avLst/>
          </a:prstGeom>
          <a:noFill/>
          <a:ln w="254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540000" y="3048000"/>
            <a:ext cx="1117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spc="6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4318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E5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4953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spc="6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RÉPONSES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23000" y="6223000"/>
            <a:ext cx="3810000" cy="0"/>
          </a:xfrm>
          <a:prstGeom prst="straightConnector1">
            <a:avLst/>
          </a:prstGeom>
          <a:noFill/>
          <a:ln w="25400">
            <a:solidFill>
              <a:srgbClr val="00E5C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10000" y="660400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Merci pour votre attention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21600" y="7620000"/>
            <a:ext cx="101600" cy="101600"/>
          </a:xfrm>
          <a:prstGeom prst="ellipse">
            <a:avLst/>
          </a:prstGeom>
          <a:solidFill>
            <a:srgbClr val="00E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077200" y="7620000"/>
            <a:ext cx="101600" cy="101600"/>
          </a:xfrm>
          <a:prstGeom prst="ellipse">
            <a:avLst/>
          </a:prstGeom>
          <a:solidFill>
            <a:srgbClr val="00E5C0">
              <a:alpha val="37647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32800" y="7620000"/>
            <a:ext cx="101600" cy="101600"/>
          </a:xfrm>
          <a:prstGeom prst="ellipse">
            <a:avLst/>
          </a:prstGeom>
          <a:solidFill>
            <a:srgbClr val="00E5C0">
              <a:alpha val="18824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0" y="8128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SmartCity | Plateforme IA de Gestion Urbaine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SmartCity - L'IA au Service de la Gestion Urbaine</dc:title>
  <dc:subject>SmartCity - L'IA au Service de la Gestion Urbaine</dc:subject>
  <dc:creator>Kimi</dc:creator>
  <cp:lastModifiedBy>Kimi</cp:lastModifiedBy>
  <cp:revision>1</cp:revision>
  <dcterms:created xsi:type="dcterms:W3CDTF">2026-05-21T23:11:39Z</dcterms:created>
  <dcterms:modified xsi:type="dcterms:W3CDTF">2026-05-21T23:11:39Z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{"Label":"SmartCity - L'IA au Service de la Gestion Urbaine","ContentProducer":"001191110108MACG2KBH8F10000","ProduceID":"19e4cce5-1672-8b4d-8000-0000feec55f4","ReservedCode1":"","ContentPropagator":"001191110108MACG2KBH8F20000","PropagateID":"19e4cce5-1672-8b4d-8000-0000feec55f4","ReservedCode2":""}</vt:lpwstr>
  </property>
</Properties>
</file>